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70" r:id="rId10"/>
    <p:sldId id="265" r:id="rId11"/>
    <p:sldId id="269" r:id="rId12"/>
    <p:sldId id="271" r:id="rId13"/>
    <p:sldId id="272" r:id="rId14"/>
    <p:sldId id="273" r:id="rId15"/>
    <p:sldId id="264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2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7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8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18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85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49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28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058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7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40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51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96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39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1A5E1-940E-47FF-AAC0-82F94DE3F279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BAF17-133B-4698-894C-E88737509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59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b="1" dirty="0" smtClean="0"/>
              <a:t>Density-based Clustering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934028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74370"/>
            <a:ext cx="10515600" cy="5966460"/>
          </a:xfrm>
        </p:spPr>
        <p:txBody>
          <a:bodyPr/>
          <a:lstStyle/>
          <a:p>
            <a:r>
              <a:rPr lang="en-US" b="1" dirty="0" smtClean="0"/>
              <a:t>Density-based clustering</a:t>
            </a:r>
            <a:r>
              <a:rPr lang="en-US" dirty="0" smtClean="0"/>
              <a:t> is a type of unsupervised machine learning technique used to identify clusters (groups) in data based on the </a:t>
            </a:r>
            <a:r>
              <a:rPr lang="en-US" b="1" dirty="0" smtClean="0"/>
              <a:t>density of data points</a:t>
            </a:r>
            <a:r>
              <a:rPr lang="en-US" dirty="0" smtClean="0"/>
              <a:t> in the feature space. </a:t>
            </a:r>
          </a:p>
          <a:p>
            <a:r>
              <a:rPr lang="en-US" b="1" dirty="0" smtClean="0"/>
              <a:t>Unlike methods like </a:t>
            </a:r>
            <a:r>
              <a:rPr lang="en-US" b="1" i="1" dirty="0" smtClean="0"/>
              <a:t>k-means</a:t>
            </a:r>
            <a:r>
              <a:rPr lang="en-US" b="1" dirty="0" smtClean="0"/>
              <a:t>, which assume clusters are spherical and of similar size,</a:t>
            </a:r>
            <a:r>
              <a:rPr lang="en-US" dirty="0" smtClean="0"/>
              <a:t> density-based methods can find clusters of arbitrary shape and handle noise/outliers effectively.</a:t>
            </a:r>
          </a:p>
          <a:p>
            <a:r>
              <a:rPr lang="en-US" dirty="0" smtClean="0"/>
              <a:t>They are </a:t>
            </a:r>
            <a:r>
              <a:rPr lang="en-US" b="1" dirty="0" smtClean="0"/>
              <a:t>non-parametric</a:t>
            </a:r>
            <a:r>
              <a:rPr lang="en-US" dirty="0" smtClean="0"/>
              <a:t>, </a:t>
            </a:r>
            <a:r>
              <a:rPr lang="en-US" b="1" dirty="0" smtClean="0"/>
              <a:t>robust to noise</a:t>
            </a:r>
            <a:r>
              <a:rPr lang="en-US" dirty="0" smtClean="0"/>
              <a:t>, and </a:t>
            </a:r>
            <a:r>
              <a:rPr lang="en-US" b="1" dirty="0" smtClean="0"/>
              <a:t>don’t need the number of clusters specified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Clusters are formed where the </a:t>
            </a:r>
            <a:r>
              <a:rPr lang="en-US" b="1" dirty="0" smtClean="0"/>
              <a:t>density of points is high</a:t>
            </a:r>
            <a:r>
              <a:rPr lang="en-US" dirty="0" smtClean="0"/>
              <a:t>, separated by regions of </a:t>
            </a:r>
            <a:r>
              <a:rPr lang="en-US" b="1" dirty="0" smtClean="0"/>
              <a:t>low density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point belongs to a cluster if it is </a:t>
            </a:r>
            <a:r>
              <a:rPr lang="en-US" b="1" dirty="0" smtClean="0"/>
              <a:t>within a dense region</a:t>
            </a:r>
            <a:r>
              <a:rPr lang="en-US" dirty="0" smtClean="0"/>
              <a:t> of points.</a:t>
            </a:r>
          </a:p>
          <a:p>
            <a:r>
              <a:rPr lang="en-US" dirty="0" smtClean="0"/>
              <a:t>Density = number of points within a specified radius r (Eps)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13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>
                <a:latin typeface="Times New Roman"/>
              </a:rPr>
              <a:t>Major </a:t>
            </a:r>
            <a:r>
              <a:rPr lang="en-US" altLang="en-US" sz="3600" dirty="0">
                <a:latin typeface="Times New Roman"/>
              </a:rPr>
              <a:t>Types of Density-Based Clustering Algorithms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 b="1" dirty="0">
                <a:latin typeface="Times New Roman"/>
              </a:rPr>
              <a:t>Connectivity based:</a:t>
            </a:r>
          </a:p>
          <a:p>
            <a:pPr marL="457200" lvl="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None/>
            </a:pPr>
            <a:r>
              <a:rPr lang="en-US" altLang="en-US" sz="3200" dirty="0">
                <a:latin typeface="Times New Roman"/>
              </a:rPr>
              <a:t>	DBSCAN, GDBSCAN, OPTICS and DBCLASD</a:t>
            </a:r>
          </a:p>
          <a:p>
            <a:pPr marL="457200" lvl="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 b="1" dirty="0">
                <a:latin typeface="Times New Roman"/>
              </a:rPr>
              <a:t>Density function based:</a:t>
            </a:r>
          </a:p>
          <a:p>
            <a:pPr marL="457200" lvl="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None/>
            </a:pPr>
            <a:r>
              <a:rPr lang="en-US" altLang="en-US" sz="3200" dirty="0">
                <a:latin typeface="Times New Roman"/>
              </a:rPr>
              <a:t>	DENCLUE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53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330" y="796925"/>
            <a:ext cx="10515600" cy="435133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DBSCAN</a:t>
            </a:r>
            <a:r>
              <a:rPr lang="en-US" dirty="0"/>
              <a:t> </a:t>
            </a:r>
            <a:r>
              <a:rPr lang="en-US" dirty="0" smtClean="0"/>
              <a:t>is the most popular </a:t>
            </a:r>
            <a:r>
              <a:rPr lang="en-US" altLang="en-US" dirty="0">
                <a:latin typeface="Times New Roman"/>
              </a:rPr>
              <a:t>Density-Based Clustering </a:t>
            </a:r>
            <a:r>
              <a:rPr lang="en-US" altLang="en-US" dirty="0" smtClean="0">
                <a:latin typeface="Times New Roman"/>
              </a:rPr>
              <a:t>Algorithm and it </a:t>
            </a:r>
            <a:r>
              <a:rPr lang="en-US" dirty="0" smtClean="0"/>
              <a:t>performs </a:t>
            </a:r>
            <a:r>
              <a:rPr lang="en-US" dirty="0"/>
              <a:t>well in handling real-world data irregularities such as</a:t>
            </a:r>
            <a:r>
              <a:rPr lang="en-US" dirty="0" smtClean="0"/>
              <a:t>: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b="1" dirty="0"/>
              <a:t>Arbitrary-Shaped Clusters</a:t>
            </a:r>
            <a:r>
              <a:rPr lang="en-US" dirty="0"/>
              <a:t>: Clusters can take any shape not just circular or convex.</a:t>
            </a:r>
          </a:p>
          <a:p>
            <a:pPr fontAlgn="base"/>
            <a:r>
              <a:rPr lang="en-US" b="1" dirty="0"/>
              <a:t>Noise and Outliers</a:t>
            </a:r>
            <a:r>
              <a:rPr lang="en-US" dirty="0"/>
              <a:t>: It effectively identifies and handles noise points without assigning them to any cluster.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53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4310"/>
            <a:ext cx="10515600" cy="5982653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3300" b="1" u="sng" dirty="0" smtClean="0"/>
              <a:t>Key Parameters in DBSCAN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1. Eps (</a:t>
            </a:r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epsilon</a:t>
            </a:r>
            <a:r>
              <a:rPr lang="en-US" b="1" dirty="0" smtClean="0"/>
              <a:t>): </a:t>
            </a:r>
            <a:r>
              <a:rPr lang="en-US" dirty="0" smtClean="0"/>
              <a:t>This defines the radius of the neighborhood around a data point. </a:t>
            </a:r>
          </a:p>
          <a:p>
            <a:pPr marL="0" indent="0">
              <a:buNone/>
            </a:pPr>
            <a:r>
              <a:rPr lang="en-US" dirty="0" smtClean="0"/>
              <a:t>If the distance between two points is less than or equal to eps they are considered neighbors. A common method to determine eps is by analyzing the k-distance graph. </a:t>
            </a:r>
          </a:p>
          <a:p>
            <a:pPr marL="0" indent="0">
              <a:buNone/>
            </a:pPr>
            <a:r>
              <a:rPr lang="en-US" dirty="0" smtClean="0"/>
              <a:t>Choosing the right eps is important:</a:t>
            </a:r>
          </a:p>
          <a:p>
            <a:r>
              <a:rPr lang="en-US" dirty="0" smtClean="0"/>
              <a:t>If eps is too small most points will be classified as noise.</a:t>
            </a:r>
          </a:p>
          <a:p>
            <a:r>
              <a:rPr lang="en-US" dirty="0" smtClean="0"/>
              <a:t>If eps is too large clusters may merge and the algorithm may fail to distinguish between them.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2. </a:t>
            </a:r>
            <a:r>
              <a:rPr lang="en-US" b="1" dirty="0" err="1" smtClean="0"/>
              <a:t>MinPts</a:t>
            </a:r>
            <a:r>
              <a:rPr lang="en-US" b="1" dirty="0" smtClean="0"/>
              <a:t>: </a:t>
            </a:r>
            <a:r>
              <a:rPr lang="en-US" dirty="0" smtClean="0"/>
              <a:t>This is the minimum number of points required within the eps radius to form a dense region. A general rule of thumb is to set </a:t>
            </a:r>
          </a:p>
          <a:p>
            <a:pPr marL="0" indent="0">
              <a:buNone/>
            </a:pPr>
            <a:r>
              <a:rPr lang="en-US" dirty="0" err="1" smtClean="0"/>
              <a:t>MinPts</a:t>
            </a:r>
            <a:r>
              <a:rPr lang="en-US" dirty="0" smtClean="0"/>
              <a:t> &gt;= D+1 where D is the number of dimensions in the dataset.</a:t>
            </a:r>
          </a:p>
          <a:p>
            <a:endParaRPr lang="en-US" dirty="0" smtClean="0"/>
          </a:p>
          <a:p>
            <a:r>
              <a:rPr lang="en-US" dirty="0" smtClean="0"/>
              <a:t>For most cases a minimum value of </a:t>
            </a:r>
            <a:r>
              <a:rPr lang="en-US" dirty="0" err="1" smtClean="0"/>
              <a:t>MinPts</a:t>
            </a:r>
            <a:r>
              <a:rPr lang="en-US" dirty="0" smtClean="0"/>
              <a:t> = 3 is recommended.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56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630" y="342900"/>
            <a:ext cx="10885170" cy="5834063"/>
          </a:xfrm>
        </p:spPr>
        <p:txBody>
          <a:bodyPr/>
          <a:lstStyle/>
          <a:p>
            <a:pPr marL="0" indent="0" fontAlgn="base">
              <a:buNone/>
            </a:pPr>
            <a:endParaRPr lang="en-US" b="1" i="0" dirty="0" smtClean="0">
              <a:solidFill>
                <a:srgbClr val="273239"/>
              </a:solidFill>
              <a:effectLst/>
              <a:latin typeface="Nunito"/>
            </a:endParaRP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DBSCAN works by categorizing data points into three types:</a:t>
            </a:r>
          </a:p>
          <a:p>
            <a:pPr fontAlgn="base">
              <a:buFont typeface="+mj-lt"/>
              <a:buAutoNum type="arabicPeriod"/>
            </a:pPr>
            <a:r>
              <a:rPr lang="en-US" b="1" i="0" dirty="0" smtClean="0">
                <a:solidFill>
                  <a:srgbClr val="273239"/>
                </a:solidFill>
                <a:effectLst/>
                <a:latin typeface="Nunito"/>
              </a:rPr>
              <a:t>Core points </a:t>
            </a:r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which have a sufficient number of neighbors within a specified radius (epsilon)</a:t>
            </a:r>
          </a:p>
          <a:p>
            <a:pPr fontAlgn="base">
              <a:buFont typeface="+mj-lt"/>
              <a:buAutoNum type="arabicPeriod" startAt="2"/>
            </a:pPr>
            <a:r>
              <a:rPr lang="en-US" b="1" i="0" dirty="0" smtClean="0">
                <a:solidFill>
                  <a:srgbClr val="273239"/>
                </a:solidFill>
                <a:effectLst/>
                <a:latin typeface="Nunito"/>
              </a:rPr>
              <a:t>Border points </a:t>
            </a:r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which are near core points but lack enough neighbors to be core points themselves</a:t>
            </a:r>
          </a:p>
          <a:p>
            <a:pPr fontAlgn="base">
              <a:buFont typeface="+mj-lt"/>
              <a:buAutoNum type="arabicPeriod" startAt="3"/>
            </a:pPr>
            <a:r>
              <a:rPr lang="en-US" b="1" i="0" dirty="0" smtClean="0">
                <a:solidFill>
                  <a:srgbClr val="273239"/>
                </a:solidFill>
                <a:effectLst/>
                <a:latin typeface="Nunito"/>
              </a:rPr>
              <a:t>Noise points </a:t>
            </a:r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which do not belong to any cluster.</a:t>
            </a:r>
          </a:p>
          <a:p>
            <a:pPr marL="0" indent="0" fontAlgn="base">
              <a:buNone/>
            </a:pPr>
            <a:endParaRPr lang="en-US" b="0" i="0" dirty="0" smtClean="0">
              <a:solidFill>
                <a:srgbClr val="273239"/>
              </a:solidFill>
              <a:effectLst/>
              <a:latin typeface="Nunito"/>
            </a:endParaRPr>
          </a:p>
          <a:p>
            <a:pPr fontAlgn="base"/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By iteratively expanding clusters from core points and connecting density-reachable points, DBSCAN forms clusters without relying on rigid assumptions about their shape or size.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249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40" y="251460"/>
            <a:ext cx="10919460" cy="592550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DBSCAN (Density-Based Spatial Clustering of Applications with Noise)The most common and foundational density-based clustering algorithm.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Parameters:</a:t>
            </a:r>
          </a:p>
          <a:p>
            <a:r>
              <a:rPr lang="en-US" dirty="0" smtClean="0"/>
              <a:t>ε (epsilon) → Radius of the neighborhood around a point.</a:t>
            </a:r>
          </a:p>
          <a:p>
            <a:r>
              <a:rPr lang="en-US" dirty="0" err="1" smtClean="0"/>
              <a:t>minPts</a:t>
            </a:r>
            <a:r>
              <a:rPr lang="en-US" dirty="0" smtClean="0"/>
              <a:t> → Minimum number of points required to form a dense region.</a:t>
            </a:r>
          </a:p>
          <a:p>
            <a:pPr marL="0" indent="0">
              <a:buNone/>
            </a:pPr>
            <a:r>
              <a:rPr lang="en-US" b="1" dirty="0" smtClean="0"/>
              <a:t>Concepts:</a:t>
            </a:r>
          </a:p>
          <a:p>
            <a:r>
              <a:rPr lang="en-US" dirty="0" smtClean="0"/>
              <a:t>Core Point: A point with at least </a:t>
            </a:r>
            <a:r>
              <a:rPr lang="en-US" dirty="0" err="1" smtClean="0"/>
              <a:t>minPts</a:t>
            </a:r>
            <a:r>
              <a:rPr lang="en-US" dirty="0" smtClean="0"/>
              <a:t> neighbors within distance ε.</a:t>
            </a:r>
          </a:p>
          <a:p>
            <a:r>
              <a:rPr lang="en-US" dirty="0" smtClean="0"/>
              <a:t>Border Point: A point that is not a core point but lies within the neighborhood of a core point.</a:t>
            </a:r>
          </a:p>
          <a:p>
            <a:r>
              <a:rPr lang="en-US" dirty="0" smtClean="0"/>
              <a:t>Noise Point (Outlier): A point that is neither a core nor a border point.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048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760"/>
            <a:ext cx="10515600" cy="62179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 smtClean="0"/>
              <a:t>How Density-based clustering works (In Simple words)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b="1" dirty="0" smtClean="0"/>
              <a:t>Core concept: </a:t>
            </a:r>
            <a:r>
              <a:rPr lang="en-US" dirty="0" smtClean="0"/>
              <a:t>Clusters are defined as areas with a high concentration of data points. Regions with very few points are considered </a:t>
            </a:r>
            <a:r>
              <a:rPr lang="en-US" b="1" dirty="0" smtClean="0"/>
              <a:t>noise or outliers.</a:t>
            </a:r>
          </a:p>
          <a:p>
            <a:r>
              <a:rPr lang="en-US" b="1" dirty="0" smtClean="0"/>
              <a:t>Identifying core points: </a:t>
            </a:r>
            <a:r>
              <a:rPr lang="en-US" dirty="0" smtClean="0"/>
              <a:t>The algorithm identifies "core points," which are data points with a minimum number of neighbors within a specified distance (called the epsilon, ε).</a:t>
            </a:r>
          </a:p>
          <a:p>
            <a:r>
              <a:rPr lang="en-US" b="1" dirty="0" smtClean="0"/>
              <a:t>Expanding clusters: </a:t>
            </a:r>
            <a:r>
              <a:rPr lang="en-US" dirty="0" smtClean="0"/>
              <a:t>A cluster is formed by connecting core points to their neighboring points.</a:t>
            </a:r>
          </a:p>
          <a:p>
            <a:r>
              <a:rPr lang="en-US" b="1" dirty="0" smtClean="0"/>
              <a:t>Border points: </a:t>
            </a:r>
            <a:r>
              <a:rPr lang="en-US" dirty="0" smtClean="0"/>
              <a:t>These are points that are not core points but are within the epsilon neighborhood of a core point, and are added to the cluster.</a:t>
            </a:r>
          </a:p>
          <a:p>
            <a:r>
              <a:rPr lang="en-US" b="1" dirty="0" smtClean="0"/>
              <a:t>Noise points: </a:t>
            </a:r>
            <a:r>
              <a:rPr lang="en-US" dirty="0" smtClean="0"/>
              <a:t>These are points that are neither core nor border points and are labeled as noise.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039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5970" y="1303020"/>
            <a:ext cx="7860030" cy="46032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0060" y="411480"/>
            <a:ext cx="337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DBSCAN  </a:t>
            </a:r>
            <a:r>
              <a:rPr lang="en-US" sz="2800" b="1" dirty="0" err="1" smtClean="0"/>
              <a:t>Datapoints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860190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5740"/>
            <a:ext cx="10515600" cy="644652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b="1" u="sng" dirty="0">
                <a:solidFill>
                  <a:srgbClr val="273239"/>
                </a:solidFill>
                <a:latin typeface="Nunito"/>
              </a:rPr>
              <a:t>Steps in the DBSCAN </a:t>
            </a:r>
            <a:r>
              <a:rPr lang="en-US" b="1" u="sng" dirty="0" smtClean="0">
                <a:solidFill>
                  <a:srgbClr val="273239"/>
                </a:solidFill>
                <a:latin typeface="Nunito"/>
              </a:rPr>
              <a:t>Algorithm</a:t>
            </a:r>
          </a:p>
          <a:p>
            <a:pPr marL="0" indent="0" fontAlgn="base">
              <a:buNone/>
            </a:pPr>
            <a:endParaRPr lang="en-US" b="1" u="sng" dirty="0">
              <a:solidFill>
                <a:srgbClr val="273239"/>
              </a:solidFill>
              <a:latin typeface="Nunito"/>
            </a:endParaRPr>
          </a:p>
          <a:p>
            <a:pPr marL="0" indent="0">
              <a:buNone/>
            </a:pPr>
            <a:r>
              <a:rPr lang="en-US" b="0" i="0" dirty="0" smtClean="0">
                <a:solidFill>
                  <a:srgbClr val="05192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DBSCAN operates by examining the neighborhood of each point in the dataset. The algorithm follows a step-by-step process to identify clusters based on the density of data points. Let's break down how DBSCAN works:</a:t>
            </a:r>
          </a:p>
          <a:p>
            <a:pPr>
              <a:buFont typeface="+mj-lt"/>
              <a:buAutoNum type="arabicPeriod"/>
            </a:pPr>
            <a:r>
              <a:rPr lang="en-US" b="1" i="0" dirty="0" smtClean="0">
                <a:solidFill>
                  <a:srgbClr val="05192D"/>
                </a:solidFill>
                <a:effectLst/>
                <a:latin typeface="Studio-Feixen-Sans"/>
              </a:rPr>
              <a:t>Parameter Selection</a:t>
            </a:r>
            <a:endParaRPr lang="en-US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Choose ε (epsilon): The maximum distance between two points for them to be considered as neighbors.</a:t>
            </a: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Choose </a:t>
            </a:r>
            <a:r>
              <a:rPr lang="en-US" b="0" i="0" dirty="0" err="1" smtClean="0">
                <a:solidFill>
                  <a:srgbClr val="05192D"/>
                </a:solidFill>
                <a:effectLst/>
                <a:latin typeface="Studio-Feixen-Sans"/>
              </a:rPr>
              <a:t>MinPts</a:t>
            </a:r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: The minimum number of points required to form a dense region.</a:t>
            </a:r>
          </a:p>
          <a:p>
            <a:pPr>
              <a:buFont typeface="+mj-lt"/>
              <a:buAutoNum type="arabicPeriod"/>
            </a:pPr>
            <a:r>
              <a:rPr lang="en-US" b="1" i="0" dirty="0" smtClean="0">
                <a:solidFill>
                  <a:srgbClr val="05192D"/>
                </a:solidFill>
                <a:effectLst/>
                <a:latin typeface="Studio-Feixen-Sans"/>
              </a:rPr>
              <a:t>Select a Starting Point</a:t>
            </a:r>
            <a:endParaRPr lang="en-US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The algorithm starts with an arbitrary unvisited point in the dataset.</a:t>
            </a:r>
          </a:p>
          <a:p>
            <a:pPr>
              <a:buFont typeface="+mj-lt"/>
              <a:buAutoNum type="arabicPeriod"/>
            </a:pPr>
            <a:r>
              <a:rPr lang="en-US" b="1" i="0" dirty="0" smtClean="0">
                <a:solidFill>
                  <a:srgbClr val="05192D"/>
                </a:solidFill>
                <a:effectLst/>
                <a:latin typeface="Studio-Feixen-Sans"/>
              </a:rPr>
              <a:t>Examine the Neighborhood</a:t>
            </a:r>
            <a:endParaRPr lang="en-US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It retrieves all points within the ε distance of the starting point.</a:t>
            </a: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If the number of neighboring points is less than </a:t>
            </a:r>
            <a:r>
              <a:rPr lang="en-US" b="0" i="0" dirty="0" err="1" smtClean="0">
                <a:solidFill>
                  <a:srgbClr val="05192D"/>
                </a:solidFill>
                <a:effectLst/>
                <a:latin typeface="Studio-Feixen-Sans"/>
              </a:rPr>
              <a:t>MinPts</a:t>
            </a:r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, the point is labeled as noise (for now).</a:t>
            </a: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If there are at least </a:t>
            </a:r>
            <a:r>
              <a:rPr lang="en-US" b="0" i="0" dirty="0" err="1" smtClean="0">
                <a:solidFill>
                  <a:srgbClr val="05192D"/>
                </a:solidFill>
                <a:effectLst/>
                <a:latin typeface="Studio-Feixen-Sans"/>
              </a:rPr>
              <a:t>MinPts</a:t>
            </a:r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 points within ε distance, the point is marked as a core point, and a new cluster is formed.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589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8590"/>
            <a:ext cx="11075670" cy="64465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0" dirty="0" smtClean="0">
                <a:solidFill>
                  <a:srgbClr val="05192D"/>
                </a:solidFill>
                <a:effectLst/>
                <a:latin typeface="Studio-Feixen-Sans"/>
              </a:rPr>
              <a:t>4. Expand the Cluster</a:t>
            </a:r>
            <a:endParaRPr lang="en-US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All the neighbors of the core point are added to the cluster.</a:t>
            </a: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For each of these neighbors:</a:t>
            </a:r>
          </a:p>
          <a:p>
            <a:pPr lvl="2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If it's a core point, its neighbors are added to the cluster recursively.</a:t>
            </a:r>
          </a:p>
          <a:p>
            <a:pPr lvl="2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If it's not a core point, it's marked as a border point, and the expansion stops.</a:t>
            </a:r>
          </a:p>
          <a:p>
            <a:pPr marL="0" indent="0">
              <a:buNone/>
            </a:pPr>
            <a:r>
              <a:rPr lang="en-US" b="1" i="0" dirty="0" smtClean="0">
                <a:solidFill>
                  <a:srgbClr val="05192D"/>
                </a:solidFill>
                <a:effectLst/>
                <a:latin typeface="Studio-Feixen-Sans"/>
              </a:rPr>
              <a:t>5. Repeat the Process</a:t>
            </a:r>
            <a:endParaRPr lang="en-US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The algorithm moves to the next unvisited point in the dataset.</a:t>
            </a: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Steps 3-4 are repeated until all points have been visited.</a:t>
            </a:r>
          </a:p>
          <a:p>
            <a:pPr marL="0" indent="0">
              <a:buNone/>
            </a:pPr>
            <a:r>
              <a:rPr lang="en-US" b="1" i="0" dirty="0" smtClean="0">
                <a:solidFill>
                  <a:srgbClr val="05192D"/>
                </a:solidFill>
                <a:effectLst/>
                <a:latin typeface="Studio-Feixen-Sans"/>
              </a:rPr>
              <a:t>6. Finalize Clusters</a:t>
            </a:r>
            <a:endParaRPr lang="en-US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After all points have been processed, the algorithm identifies all clusters.</a:t>
            </a: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Points initially labeled as noise might now be border points if they're within ε distance of a core point.</a:t>
            </a:r>
          </a:p>
          <a:p>
            <a:pPr marL="0" indent="0">
              <a:buNone/>
            </a:pPr>
            <a:r>
              <a:rPr lang="en-US" b="1" i="0" dirty="0" smtClean="0">
                <a:solidFill>
                  <a:srgbClr val="05192D"/>
                </a:solidFill>
                <a:effectLst/>
                <a:latin typeface="Studio-Feixen-Sans"/>
              </a:rPr>
              <a:t>7. Handling Noise</a:t>
            </a:r>
            <a:endParaRPr lang="en-US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742950" lvl="1" indent="-285750"/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Any points not belonging to any cluster remain classified as noise.</a:t>
            </a:r>
          </a:p>
          <a:p>
            <a:pPr marL="0" indent="0">
              <a:buNone/>
            </a:pPr>
            <a:endParaRPr lang="en-US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r>
              <a:rPr lang="en-US" sz="2200" b="0" i="0" dirty="0" smtClean="0">
                <a:solidFill>
                  <a:srgbClr val="05192D"/>
                </a:solidFill>
                <a:effectLst/>
                <a:latin typeface="Studio-Feixen-Sans"/>
              </a:rPr>
              <a:t>This process allows DBSCAN to form clusters of </a:t>
            </a:r>
            <a:r>
              <a:rPr lang="en-US" sz="2200" b="1" i="0" dirty="0" smtClean="0">
                <a:solidFill>
                  <a:srgbClr val="05192D"/>
                </a:solidFill>
                <a:effectLst/>
                <a:latin typeface="Studio-Feixen-Sans"/>
              </a:rPr>
              <a:t>arbitrary shapes and identify outliers </a:t>
            </a:r>
            <a:r>
              <a:rPr lang="en-US" sz="2200" b="0" i="0" dirty="0" smtClean="0">
                <a:solidFill>
                  <a:srgbClr val="05192D"/>
                </a:solidFill>
                <a:effectLst/>
                <a:latin typeface="Studio-Feixen-Sans"/>
              </a:rPr>
              <a:t>effectively. The algorithm's ability to find clusters </a:t>
            </a:r>
            <a:r>
              <a:rPr lang="en-US" sz="2200" b="1" i="0" dirty="0" smtClean="0">
                <a:solidFill>
                  <a:srgbClr val="05192D"/>
                </a:solidFill>
                <a:effectLst/>
                <a:latin typeface="Studio-Feixen-Sans"/>
              </a:rPr>
              <a:t>without specifying the number of clusters </a:t>
            </a:r>
            <a:r>
              <a:rPr lang="en-US" sz="2200" b="0" i="0" dirty="0" smtClean="0">
                <a:solidFill>
                  <a:srgbClr val="05192D"/>
                </a:solidFill>
                <a:effectLst/>
                <a:latin typeface="Studio-Feixen-Sans"/>
              </a:rPr>
              <a:t>beforehand is one of its key strengths.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720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205740"/>
            <a:ext cx="11430000" cy="643509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0" dirty="0" smtClean="0">
                <a:solidFill>
                  <a:srgbClr val="05192D"/>
                </a:solidFill>
                <a:effectLst/>
                <a:latin typeface="Studio-Feixen-Sans"/>
              </a:rPr>
              <a:t>Choosing DBSCAN Parameters</a:t>
            </a:r>
          </a:p>
          <a:p>
            <a:pPr marL="0" indent="0">
              <a:buNone/>
            </a:pPr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The effectiveness of DBSCAN heavily depends on the choice of its two main parameters: ε (epsilon) and </a:t>
            </a:r>
            <a:r>
              <a:rPr lang="en-US" b="0" i="0" dirty="0" err="1" smtClean="0">
                <a:solidFill>
                  <a:srgbClr val="05192D"/>
                </a:solidFill>
                <a:effectLst/>
                <a:latin typeface="Studio-Feixen-Sans"/>
              </a:rPr>
              <a:t>MinPts</a:t>
            </a:r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. Here's how to approach selecting these parameters:</a:t>
            </a:r>
          </a:p>
          <a:p>
            <a:pPr marL="0" indent="0">
              <a:buNone/>
            </a:pPr>
            <a:endParaRPr lang="en-US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514350" indent="-514350">
              <a:buAutoNum type="arabicPeriod"/>
            </a:pPr>
            <a:r>
              <a:rPr lang="en-US" b="1" i="0" u="sng" dirty="0" smtClean="0">
                <a:solidFill>
                  <a:srgbClr val="05192D"/>
                </a:solidFill>
                <a:effectLst/>
                <a:latin typeface="Studio-Feixen-Sans"/>
              </a:rPr>
              <a:t>Selecting ε (Epsilon)</a:t>
            </a:r>
          </a:p>
          <a:p>
            <a:pPr marL="0" indent="0">
              <a:buNone/>
            </a:pPr>
            <a:endParaRPr lang="en-US" b="1" i="0" u="sng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5192D"/>
                </a:solidFill>
                <a:latin typeface="Studio-Feixen-Sans"/>
              </a:rPr>
              <a:t>(a)</a:t>
            </a:r>
            <a:r>
              <a:rPr lang="en-US" b="1" i="0" dirty="0" smtClean="0">
                <a:solidFill>
                  <a:srgbClr val="05192D"/>
                </a:solidFill>
                <a:effectLst/>
                <a:latin typeface="Studio-Feixen-Sans"/>
              </a:rPr>
              <a:t>. Use domain knowledge</a:t>
            </a:r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: If you have insight into what distance is meaningful for your specific problem, use that as a starting point.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5192D"/>
                </a:solidFill>
                <a:latin typeface="Studio-Feixen-Sans"/>
              </a:rPr>
              <a:t>(b)</a:t>
            </a:r>
            <a:r>
              <a:rPr lang="en-US" b="1" i="0" dirty="0" smtClean="0">
                <a:solidFill>
                  <a:srgbClr val="05192D"/>
                </a:solidFill>
                <a:effectLst/>
                <a:latin typeface="Studio-Feixen-Sans"/>
              </a:rPr>
              <a:t>. K-distance graph</a:t>
            </a:r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: This is a more systematic approach:</a:t>
            </a:r>
          </a:p>
          <a:p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Calculate the distance to the k-</a:t>
            </a:r>
            <a:r>
              <a:rPr lang="en-US" b="0" i="0" dirty="0" err="1" smtClean="0">
                <a:solidFill>
                  <a:srgbClr val="05192D"/>
                </a:solidFill>
                <a:effectLst/>
                <a:latin typeface="Studio-Feixen-Sans"/>
              </a:rPr>
              <a:t>th</a:t>
            </a:r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 nearest neighbor for each point (where k = </a:t>
            </a:r>
            <a:r>
              <a:rPr lang="en-US" b="0" i="0" dirty="0" err="1" smtClean="0">
                <a:solidFill>
                  <a:srgbClr val="05192D"/>
                </a:solidFill>
                <a:effectLst/>
                <a:latin typeface="Studio-Feixen-Sans"/>
              </a:rPr>
              <a:t>MinPts</a:t>
            </a:r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).</a:t>
            </a:r>
          </a:p>
          <a:p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Plot these k-distances in ascending order.</a:t>
            </a:r>
          </a:p>
          <a:p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Look for an "elbow" in the graph – a point where the curve starts to level off.</a:t>
            </a:r>
          </a:p>
          <a:p>
            <a:r>
              <a:rPr lang="en-US" b="0" i="0" dirty="0" smtClean="0">
                <a:solidFill>
                  <a:srgbClr val="05192D"/>
                </a:solidFill>
                <a:effectLst/>
                <a:latin typeface="Studio-Feixen-Sans"/>
              </a:rPr>
              <a:t>The ε value at this elbow is often a good choice.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971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740" y="6140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2. Selecting </a:t>
            </a:r>
            <a:r>
              <a:rPr lang="en-US" b="1" u="sng" dirty="0" err="1" smtClean="0"/>
              <a:t>MinPts</a:t>
            </a:r>
            <a:endParaRPr lang="en-US" b="1" u="sng" dirty="0" smtClean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dirty="0" smtClean="0"/>
              <a:t>(a). </a:t>
            </a:r>
            <a:r>
              <a:rPr lang="en-US" b="1" dirty="0"/>
              <a:t>General rule</a:t>
            </a:r>
            <a:r>
              <a:rPr lang="en-US" dirty="0"/>
              <a:t>: A good starting point is to set </a:t>
            </a:r>
            <a:r>
              <a:rPr lang="en-US" dirty="0" err="1"/>
              <a:t>MinPts</a:t>
            </a:r>
            <a:r>
              <a:rPr lang="en-US" dirty="0"/>
              <a:t> = 2 * </a:t>
            </a:r>
            <a:r>
              <a:rPr lang="en-US" dirty="0" err="1"/>
              <a:t>num_features</a:t>
            </a:r>
            <a:r>
              <a:rPr lang="en-US" dirty="0"/>
              <a:t>, where </a:t>
            </a:r>
            <a:r>
              <a:rPr lang="en-US" dirty="0" err="1"/>
              <a:t>num_features</a:t>
            </a:r>
            <a:r>
              <a:rPr lang="en-US" dirty="0"/>
              <a:t> is the number of dimensions in your dataset.</a:t>
            </a:r>
          </a:p>
          <a:p>
            <a:pPr marL="0" indent="0">
              <a:buNone/>
            </a:pPr>
            <a:r>
              <a:rPr lang="en-US" b="1" dirty="0" smtClean="0"/>
              <a:t>(b). </a:t>
            </a:r>
            <a:r>
              <a:rPr lang="en-US" b="1" dirty="0"/>
              <a:t>Noise consideration</a:t>
            </a:r>
            <a:r>
              <a:rPr lang="en-US" dirty="0"/>
              <a:t>: If your data has noise or you want to detect smaller clusters, you might want to decrease </a:t>
            </a:r>
            <a:r>
              <a:rPr lang="en-US" dirty="0" err="1"/>
              <a:t>MinPts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smtClean="0"/>
              <a:t>(c). </a:t>
            </a:r>
            <a:r>
              <a:rPr lang="en-US" b="1" dirty="0"/>
              <a:t>Dataset size</a:t>
            </a:r>
            <a:r>
              <a:rPr lang="en-US" dirty="0"/>
              <a:t>: For larger datasets, you might need to increase </a:t>
            </a:r>
            <a:r>
              <a:rPr lang="en-US" dirty="0" err="1"/>
              <a:t>MinPts</a:t>
            </a:r>
            <a:r>
              <a:rPr lang="en-US" dirty="0"/>
              <a:t> to avoid creating too many small clusters.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473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102353"/>
              </p:ext>
            </p:extLst>
          </p:nvPr>
        </p:nvGraphicFramePr>
        <p:xfrm>
          <a:off x="1805940" y="137163"/>
          <a:ext cx="7418070" cy="700523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472690">
                  <a:extLst>
                    <a:ext uri="{9D8B030D-6E8A-4147-A177-3AD203B41FA5}">
                      <a16:colId xmlns:a16="http://schemas.microsoft.com/office/drawing/2014/main" val="2644630492"/>
                    </a:ext>
                  </a:extLst>
                </a:gridCol>
                <a:gridCol w="2472690">
                  <a:extLst>
                    <a:ext uri="{9D8B030D-6E8A-4147-A177-3AD203B41FA5}">
                      <a16:colId xmlns:a16="http://schemas.microsoft.com/office/drawing/2014/main" val="3208773588"/>
                    </a:ext>
                  </a:extLst>
                </a:gridCol>
                <a:gridCol w="2472690">
                  <a:extLst>
                    <a:ext uri="{9D8B030D-6E8A-4147-A177-3AD203B41FA5}">
                      <a16:colId xmlns:a16="http://schemas.microsoft.com/office/drawing/2014/main" val="3112306115"/>
                    </a:ext>
                  </a:extLst>
                </a:gridCol>
              </a:tblGrid>
              <a:tr h="358562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Feature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DBSCAN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effectLst/>
                        </a:rPr>
                        <a:t>K-Means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3892885142"/>
                  </a:ext>
                </a:extLst>
              </a:tr>
              <a:tr h="693766"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effectLst/>
                        </a:rPr>
                        <a:t>Cluster Shape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Can identify clusters of arbitrary shapes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Assumes clusters are convex and roughly spherical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3682395871"/>
                  </a:ext>
                </a:extLst>
              </a:tr>
              <a:tr h="865421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Number of Clusters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effectLst/>
                        </a:rPr>
                        <a:t>Does not require specifying the number of clusters beforehand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Requires specifying the number of clusters (K) in advance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792522175"/>
                  </a:ext>
                </a:extLst>
              </a:tr>
              <a:tr h="865421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Handling Outliers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800">
                          <a:effectLst/>
                        </a:rPr>
                        <a:t>Identifies outliers as noise points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Forces every point into a cluster, potentially distorting cluster shapes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1506415079"/>
                  </a:ext>
                </a:extLst>
              </a:tr>
              <a:tr h="693766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Sensitivity to Parameters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Sensitive to epsilon and MinPts parameters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Sensitive to initial centroid positions and the choice of K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1565257206"/>
                  </a:ext>
                </a:extLst>
              </a:tr>
              <a:tr h="693766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Cluster Density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Can find clusters of varying densities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Tends to find clusters of similar spatial extent and density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1615563317"/>
                  </a:ext>
                </a:extLst>
              </a:tr>
              <a:tr h="865421">
                <a:tc>
                  <a:txBody>
                    <a:bodyPr/>
                    <a:lstStyle/>
                    <a:p>
                      <a:pPr rtl="0"/>
                      <a:r>
                        <a:rPr lang="en-IN" sz="1800" b="1">
                          <a:effectLst/>
                        </a:rPr>
                        <a:t>Scalability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effectLst/>
                        </a:rPr>
                        <a:t>Less efficient for large datasets, especially with high-dimensional data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>
                          <a:effectLst/>
                        </a:rPr>
                        <a:t>Generally more efficient and scales better to large datasets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381437577"/>
                  </a:ext>
                </a:extLst>
              </a:tr>
              <a:tr h="865421">
                <a:tc>
                  <a:txBody>
                    <a:bodyPr/>
                    <a:lstStyle/>
                    <a:p>
                      <a:pPr rtl="0"/>
                      <a:r>
                        <a:rPr lang="en-IN" sz="1800" b="1" dirty="0">
                          <a:effectLst/>
                        </a:rPr>
                        <a:t>Consistency of Results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>
                          <a:effectLst/>
                        </a:rPr>
                        <a:t>Produces consistent results across runs</a:t>
                      </a:r>
                    </a:p>
                  </a:txBody>
                  <a:tcPr marL="48510" marR="48510" marT="60637" marB="6063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effectLst/>
                        </a:rPr>
                        <a:t>Results can vary due to random initialization of centroids</a:t>
                      </a:r>
                    </a:p>
                  </a:txBody>
                  <a:tcPr marL="48510" marR="48510" marT="60637" marB="60637" anchor="ctr"/>
                </a:tc>
                <a:extLst>
                  <a:ext uri="{0D108BD9-81ED-4DB2-BD59-A6C34878D82A}">
                    <a16:rowId xmlns:a16="http://schemas.microsoft.com/office/drawing/2014/main" val="28222081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429750" y="2320290"/>
            <a:ext cx="2320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Comparison of DBSCAN with K-Means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19881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3900" y="804942"/>
            <a:ext cx="1068324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of DBSCAN: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Finds clusters of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arbitrary shape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to noise and outliers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Doesn’t require specifying the number of clusters in advance.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Struggles with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varying density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the choice of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ε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minPts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856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0040"/>
            <a:ext cx="10515600" cy="5856923"/>
          </a:xfrm>
        </p:spPr>
        <p:txBody>
          <a:bodyPr/>
          <a:lstStyle/>
          <a:p>
            <a:pPr marL="0" indent="0">
              <a:buNone/>
            </a:pPr>
            <a:r>
              <a:rPr lang="en-IN" b="1" i="0" u="sng" dirty="0" smtClean="0">
                <a:solidFill>
                  <a:srgbClr val="05192D"/>
                </a:solidFill>
                <a:effectLst/>
                <a:latin typeface="Studio-Feixen-Sans"/>
              </a:rPr>
              <a:t>Applications of DBSCAN</a:t>
            </a:r>
          </a:p>
          <a:p>
            <a:pPr marL="0" indent="0">
              <a:buNone/>
            </a:pPr>
            <a:endParaRPr lang="en-IN" b="1" i="0" u="sng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r>
              <a:rPr lang="en-US" b="1" i="0" u="none" strike="noStrike" dirty="0" smtClean="0">
                <a:solidFill>
                  <a:srgbClr val="05192D"/>
                </a:solidFill>
                <a:effectLst/>
                <a:latin typeface="Studio-Feixen-Sans"/>
              </a:rPr>
              <a:t>Spatial data analysis</a:t>
            </a:r>
            <a:endParaRPr lang="en-US" b="1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r>
              <a:rPr lang="en-US" sz="2400" b="0" i="0" u="none" strike="noStrike" dirty="0" smtClean="0">
                <a:solidFill>
                  <a:srgbClr val="05192D"/>
                </a:solidFill>
                <a:effectLst/>
                <a:latin typeface="Studio-Feixen-Sans"/>
              </a:rPr>
              <a:t>In geographic information systems (GIS), DBSCAN can identify areas of high activity or interest.</a:t>
            </a:r>
          </a:p>
          <a:p>
            <a:r>
              <a:rPr lang="en-US" b="1" i="0" u="none" strike="noStrike" dirty="0" smtClean="0">
                <a:solidFill>
                  <a:srgbClr val="05192D"/>
                </a:solidFill>
                <a:effectLst/>
                <a:latin typeface="Studio-Feixen-Sans"/>
              </a:rPr>
              <a:t>Image processing</a:t>
            </a:r>
            <a:r>
              <a:rPr lang="en-US" b="0" i="0" u="none" strike="noStrike" dirty="0" smtClean="0">
                <a:solidFill>
                  <a:srgbClr val="05192D"/>
                </a:solidFill>
                <a:effectLst/>
                <a:latin typeface="Studio-Feixen-Sans"/>
              </a:rPr>
              <a:t> </a:t>
            </a:r>
            <a:endParaRPr lang="en-US" b="1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r>
              <a:rPr lang="en-US" sz="2400" b="0" i="0" u="none" strike="noStrike" dirty="0" smtClean="0">
                <a:solidFill>
                  <a:srgbClr val="05192D"/>
                </a:solidFill>
                <a:effectLst/>
                <a:latin typeface="Studio-Feixen-Sans"/>
              </a:rPr>
              <a:t>DBSCAN can group pixels into distinct objects for tasks like object recognition in images. </a:t>
            </a:r>
          </a:p>
          <a:p>
            <a:r>
              <a:rPr lang="en-US" b="1" i="0" u="none" strike="noStrike" dirty="0" smtClean="0">
                <a:solidFill>
                  <a:srgbClr val="05192D"/>
                </a:solidFill>
                <a:effectLst/>
                <a:latin typeface="Studio-Feixen-Sans"/>
              </a:rPr>
              <a:t>Anomaly detection</a:t>
            </a:r>
            <a:r>
              <a:rPr lang="en-US" b="0" i="0" u="none" strike="noStrike" dirty="0" smtClean="0">
                <a:solidFill>
                  <a:srgbClr val="05192D"/>
                </a:solidFill>
                <a:effectLst/>
                <a:latin typeface="Studio-Feixen-Sans"/>
              </a:rPr>
              <a:t> </a:t>
            </a:r>
            <a:endParaRPr lang="en-US" b="1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r>
              <a:rPr lang="en-US" sz="2400" b="0" i="0" u="none" strike="noStrike" dirty="0" smtClean="0">
                <a:solidFill>
                  <a:srgbClr val="05192D"/>
                </a:solidFill>
                <a:effectLst/>
                <a:latin typeface="Studio-Feixen-Sans"/>
              </a:rPr>
              <a:t>In fraud detection or system health monitoring, DBSCAN can isolate unusual patterns.</a:t>
            </a:r>
            <a:endParaRPr lang="en-US" sz="2400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endParaRPr lang="en-US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endParaRPr lang="en-US" b="0" i="0" dirty="0" smtClean="0">
              <a:solidFill>
                <a:srgbClr val="05192D"/>
              </a:solidFill>
              <a:effectLst/>
              <a:latin typeface="Studio-Feixen-Sans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359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" y="262890"/>
            <a:ext cx="11056620" cy="627507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Q1. </a:t>
            </a:r>
            <a:r>
              <a:rPr lang="en-US" dirty="0" smtClean="0"/>
              <a:t>Given the points A(3, 7), B(4, 6), C(5, 5), D(6, 4), E(7, 3), F(6, 2), G(7, 2) and H(8, 4), Find the core points and outliers using DBSCAN. Take Eps = 2.5 and </a:t>
            </a:r>
            <a:r>
              <a:rPr lang="en-US" dirty="0" err="1" smtClean="0"/>
              <a:t>MinPts</a:t>
            </a:r>
            <a:r>
              <a:rPr lang="en-US" dirty="0" smtClean="0"/>
              <a:t> = 3.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u="sng" dirty="0" smtClean="0"/>
              <a:t>Solution:</a:t>
            </a:r>
          </a:p>
          <a:p>
            <a:pPr marL="0" indent="0">
              <a:buNone/>
            </a:pPr>
            <a:r>
              <a:rPr lang="en-US" dirty="0" smtClean="0"/>
              <a:t>Given, Epsilon(Eps) = 2.5</a:t>
            </a:r>
          </a:p>
          <a:p>
            <a:pPr marL="0" indent="0">
              <a:buNone/>
            </a:pPr>
            <a:r>
              <a:rPr lang="en-US" dirty="0" smtClean="0"/>
              <a:t>Minimum Points(</a:t>
            </a:r>
            <a:r>
              <a:rPr lang="en-US" dirty="0" err="1" smtClean="0"/>
              <a:t>MinPts</a:t>
            </a:r>
            <a:r>
              <a:rPr lang="en-US" dirty="0" smtClean="0"/>
              <a:t>) = 3</a:t>
            </a:r>
          </a:p>
          <a:p>
            <a:pPr marL="0" indent="0">
              <a:buNone/>
            </a:pPr>
            <a:r>
              <a:rPr lang="en-US" dirty="0" smtClean="0"/>
              <a:t>Let’s represent the given data points in tabular form: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863090"/>
            <a:ext cx="3577589" cy="467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77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74320"/>
            <a:ext cx="10759440" cy="590264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/>
              <a:t>Step 1: </a:t>
            </a:r>
            <a:r>
              <a:rPr lang="en-US" sz="2400" dirty="0" smtClean="0"/>
              <a:t>To find the core points, outliers and clusters by using DBSCAN we need to first calculate the distance among all pairs of given data point. Let us use </a:t>
            </a:r>
            <a:r>
              <a:rPr lang="en-US" sz="2400" b="1" dirty="0" smtClean="0"/>
              <a:t>Euclidean distance </a:t>
            </a:r>
            <a:r>
              <a:rPr lang="en-US" sz="2400" dirty="0" smtClean="0"/>
              <a:t>measure for distance calculation.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9956"/>
          <a:stretch/>
        </p:blipFill>
        <p:spPr>
          <a:xfrm>
            <a:off x="1623060" y="1280160"/>
            <a:ext cx="8218170" cy="545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45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1770" y="274320"/>
            <a:ext cx="6195060" cy="6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3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720" y="228600"/>
            <a:ext cx="9395460" cy="54178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88770" y="6012180"/>
            <a:ext cx="8103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can fill all the above calculated distance values in the table.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6384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960" y="548640"/>
            <a:ext cx="7943850" cy="57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75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65860" y="845820"/>
            <a:ext cx="100355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Data point A has </a:t>
            </a:r>
            <a:r>
              <a:rPr lang="en-US" sz="2400" dirty="0" err="1" smtClean="0"/>
              <a:t>Minpts</a:t>
            </a:r>
            <a:r>
              <a:rPr lang="en-US" sz="2400" dirty="0" smtClean="0"/>
              <a:t>&lt;=3 so it cant be considered as a core point.</a:t>
            </a:r>
          </a:p>
          <a:p>
            <a:r>
              <a:rPr lang="en-US" sz="2400" dirty="0" smtClean="0"/>
              <a:t>Data points </a:t>
            </a:r>
            <a:r>
              <a:rPr lang="en-US" sz="2400" b="1" dirty="0" smtClean="0"/>
              <a:t>B,C,D,E,F,G and H </a:t>
            </a:r>
            <a:r>
              <a:rPr lang="en-US" sz="2400" dirty="0" smtClean="0"/>
              <a:t>form cluster as they have </a:t>
            </a:r>
            <a:r>
              <a:rPr lang="en-US" sz="2400" dirty="0" err="1" smtClean="0"/>
              <a:t>MinPts</a:t>
            </a:r>
            <a:r>
              <a:rPr lang="en-US" sz="2400" dirty="0" smtClean="0"/>
              <a:t>&gt;=3 so they are called </a:t>
            </a:r>
            <a:r>
              <a:rPr lang="en-US" sz="2400" b="1" dirty="0" smtClean="0"/>
              <a:t>core-points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Data point A is a </a:t>
            </a:r>
            <a:r>
              <a:rPr lang="en-US" sz="2400" b="1" dirty="0" smtClean="0"/>
              <a:t>non-core point </a:t>
            </a:r>
            <a:r>
              <a:rPr lang="en-US" sz="2400" dirty="0" smtClean="0"/>
              <a:t>but </a:t>
            </a:r>
            <a:r>
              <a:rPr lang="en-US" sz="2400" b="1" dirty="0" smtClean="0"/>
              <a:t>not an outlier</a:t>
            </a:r>
            <a:r>
              <a:rPr lang="en-US" sz="2400" dirty="0"/>
              <a:t>, as it is a part of a cluster {</a:t>
            </a:r>
            <a:r>
              <a:rPr lang="en-US" sz="2400" dirty="0" smtClean="0"/>
              <a:t>B,A,C}, and its in the </a:t>
            </a:r>
            <a:r>
              <a:rPr lang="en-US" sz="2400" dirty="0" err="1" smtClean="0"/>
              <a:t>neighbourhood</a:t>
            </a:r>
            <a:r>
              <a:rPr lang="en-US" sz="2400" dirty="0" smtClean="0"/>
              <a:t> of a core-point, B hence its called a </a:t>
            </a:r>
            <a:r>
              <a:rPr lang="en-US" sz="2400" b="1" dirty="0" smtClean="0"/>
              <a:t>Boundary point.</a:t>
            </a:r>
          </a:p>
          <a:p>
            <a:endParaRPr lang="en-US" sz="2400" b="1" dirty="0" smtClean="0"/>
          </a:p>
          <a:p>
            <a:r>
              <a:rPr lang="en-US" sz="2400" dirty="0" smtClean="0"/>
              <a:t> There is </a:t>
            </a:r>
            <a:r>
              <a:rPr lang="en-US" sz="2400" b="1" dirty="0" smtClean="0"/>
              <a:t>no outlier </a:t>
            </a:r>
            <a:r>
              <a:rPr lang="en-US" sz="2400" dirty="0" smtClean="0"/>
              <a:t>here.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24495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790" y="160020"/>
            <a:ext cx="10725150" cy="600551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Q2. </a:t>
            </a:r>
            <a:r>
              <a:rPr lang="en-US" b="1" dirty="0" smtClean="0"/>
              <a:t>Another DBSCAN Numerical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731520"/>
            <a:ext cx="10805160" cy="593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64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590" y="742950"/>
            <a:ext cx="9498329" cy="5434013"/>
          </a:xfrm>
        </p:spPr>
      </p:pic>
    </p:spTree>
    <p:extLst>
      <p:ext uri="{BB962C8B-B14F-4D97-AF65-F5344CB8AC3E}">
        <p14:creationId xmlns:p14="http://schemas.microsoft.com/office/powerpoint/2010/main" val="423889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425" y="359122"/>
            <a:ext cx="10747375" cy="593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8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51358"/>
            <a:ext cx="10515600" cy="5609411"/>
          </a:xfrm>
        </p:spPr>
      </p:pic>
    </p:spTree>
    <p:extLst>
      <p:ext uri="{BB962C8B-B14F-4D97-AF65-F5344CB8AC3E}">
        <p14:creationId xmlns:p14="http://schemas.microsoft.com/office/powerpoint/2010/main" val="3369645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339951"/>
            <a:ext cx="10839450" cy="5817736"/>
          </a:xfrm>
        </p:spPr>
      </p:pic>
    </p:spTree>
    <p:extLst>
      <p:ext uri="{BB962C8B-B14F-4D97-AF65-F5344CB8AC3E}">
        <p14:creationId xmlns:p14="http://schemas.microsoft.com/office/powerpoint/2010/main" val="3103699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" y="401221"/>
            <a:ext cx="10180320" cy="5545335"/>
          </a:xfrm>
        </p:spPr>
      </p:pic>
      <p:sp>
        <p:nvSpPr>
          <p:cNvPr id="5" name="TextBox 4"/>
          <p:cNvSpPr txBox="1"/>
          <p:nvPr/>
        </p:nvSpPr>
        <p:spPr>
          <a:xfrm>
            <a:off x="7429500" y="4469130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Noise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32520" y="4469130"/>
            <a:ext cx="217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P9 is an outlier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703759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891" y="697230"/>
            <a:ext cx="9133376" cy="5479733"/>
          </a:xfrm>
        </p:spPr>
      </p:pic>
    </p:spTree>
    <p:extLst>
      <p:ext uri="{BB962C8B-B14F-4D97-AF65-F5344CB8AC3E}">
        <p14:creationId xmlns:p14="http://schemas.microsoft.com/office/powerpoint/2010/main" val="3617656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5750"/>
            <a:ext cx="10515600" cy="636651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 smtClean="0"/>
              <a:t>Other Density-based Clustering algorithms</a:t>
            </a:r>
          </a:p>
          <a:p>
            <a:pPr marL="0" indent="0">
              <a:buNone/>
            </a:pPr>
            <a:endParaRPr lang="en-IN" b="1" u="sng" dirty="0" smtClean="0"/>
          </a:p>
          <a:p>
            <a:pPr marL="0" indent="0">
              <a:buNone/>
            </a:pPr>
            <a:r>
              <a:rPr lang="en-US" b="1" dirty="0"/>
              <a:t>1</a:t>
            </a:r>
            <a:r>
              <a:rPr lang="en-US" b="1" dirty="0" smtClean="0"/>
              <a:t>. HDBSCAN (Hierarchical DBSCAN)</a:t>
            </a:r>
          </a:p>
          <a:p>
            <a:pPr marL="0" indent="0">
              <a:buNone/>
            </a:pPr>
            <a:r>
              <a:rPr lang="en-US" dirty="0" smtClean="0"/>
              <a:t>Extends DBSCAN by:</a:t>
            </a:r>
          </a:p>
          <a:p>
            <a:r>
              <a:rPr lang="en-US" dirty="0" smtClean="0"/>
              <a:t>Building a </a:t>
            </a:r>
            <a:r>
              <a:rPr lang="en-US" b="1" dirty="0" smtClean="0"/>
              <a:t>hierarchical tree</a:t>
            </a:r>
            <a:r>
              <a:rPr lang="en-US" dirty="0" smtClean="0"/>
              <a:t> of clusters over varying density thresholds.</a:t>
            </a:r>
          </a:p>
          <a:p>
            <a:r>
              <a:rPr lang="en-US" dirty="0" smtClean="0"/>
              <a:t>Selecting clusters that are </a:t>
            </a:r>
            <a:r>
              <a:rPr lang="en-US" b="1" dirty="0" smtClean="0"/>
              <a:t>most stable</a:t>
            </a:r>
            <a:r>
              <a:rPr lang="en-US" dirty="0" smtClean="0"/>
              <a:t> over ε values.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Advantages:</a:t>
            </a:r>
          </a:p>
          <a:p>
            <a:r>
              <a:rPr lang="en-US" dirty="0" smtClean="0"/>
              <a:t>Works well with </a:t>
            </a:r>
            <a:r>
              <a:rPr lang="en-US" b="1" dirty="0" smtClean="0"/>
              <a:t>varying densities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No need to choose ε</a:t>
            </a:r>
            <a:r>
              <a:rPr lang="en-US" dirty="0" smtClean="0"/>
              <a:t> manually.</a:t>
            </a:r>
          </a:p>
          <a:p>
            <a:r>
              <a:rPr lang="en-US" dirty="0" smtClean="0"/>
              <a:t>Produces </a:t>
            </a:r>
            <a:r>
              <a:rPr lang="en-US" b="1" dirty="0" smtClean="0"/>
              <a:t>hierarchical structure</a:t>
            </a:r>
            <a:r>
              <a:rPr lang="en-US" dirty="0" smtClean="0"/>
              <a:t> and </a:t>
            </a:r>
            <a:r>
              <a:rPr lang="en-US" b="1" dirty="0" smtClean="0"/>
              <a:t>cluster stability scores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Limitations:</a:t>
            </a:r>
          </a:p>
          <a:p>
            <a:r>
              <a:rPr lang="en-US" dirty="0" smtClean="0"/>
              <a:t>Slightly more complex.</a:t>
            </a:r>
          </a:p>
          <a:p>
            <a:r>
              <a:rPr lang="en-US" dirty="0" smtClean="0"/>
              <a:t>Computationally heavier than DBSCAN.</a:t>
            </a:r>
          </a:p>
          <a:p>
            <a:pPr marL="0" indent="0">
              <a:buNone/>
            </a:pP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112126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90" y="251460"/>
            <a:ext cx="10976610" cy="62865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2</a:t>
            </a:r>
            <a:r>
              <a:rPr lang="en-US" b="1" dirty="0" smtClean="0"/>
              <a:t>. OPTICS (Ordering Points To Identify the Clustering Structure)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 smtClean="0"/>
              <a:t>Like DBSCAN, but instead of fixed ε, it creates an </a:t>
            </a:r>
            <a:r>
              <a:rPr lang="en-US" b="1" dirty="0" smtClean="0"/>
              <a:t>ordering of points</a:t>
            </a:r>
            <a:r>
              <a:rPr lang="en-US" dirty="0" smtClean="0"/>
              <a:t> that captures cluster structure at multiple density levels.</a:t>
            </a:r>
          </a:p>
          <a:p>
            <a:r>
              <a:rPr lang="en-US" dirty="0" smtClean="0"/>
              <a:t>Each point has a </a:t>
            </a:r>
            <a:r>
              <a:rPr lang="en-US" b="1" dirty="0" smtClean="0"/>
              <a:t>reachability distance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Clusters can be extracted from the </a:t>
            </a:r>
            <a:r>
              <a:rPr lang="en-US" b="1" dirty="0" smtClean="0"/>
              <a:t>reachability plot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Advantages:</a:t>
            </a:r>
          </a:p>
          <a:p>
            <a:r>
              <a:rPr lang="en-US" dirty="0" smtClean="0"/>
              <a:t>Handles </a:t>
            </a:r>
            <a:r>
              <a:rPr lang="en-US" b="1" dirty="0" smtClean="0"/>
              <a:t>varying density clusters</a:t>
            </a:r>
            <a:r>
              <a:rPr lang="en-US" dirty="0" smtClean="0"/>
              <a:t> better than DBSCAN.</a:t>
            </a:r>
          </a:p>
          <a:p>
            <a:r>
              <a:rPr lang="en-US" dirty="0" smtClean="0"/>
              <a:t>Provides </a:t>
            </a:r>
            <a:r>
              <a:rPr lang="en-US" b="1" dirty="0" smtClean="0"/>
              <a:t>multi-scale clustering</a:t>
            </a:r>
            <a:r>
              <a:rPr lang="en-US" dirty="0" smtClean="0"/>
              <a:t> without picking a single ε.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Limitations:</a:t>
            </a:r>
          </a:p>
          <a:p>
            <a:r>
              <a:rPr lang="en-US" dirty="0" smtClean="0"/>
              <a:t>Slightly more complex interpretation (reachability plot).</a:t>
            </a:r>
          </a:p>
          <a:p>
            <a:r>
              <a:rPr lang="en-US" dirty="0" smtClean="0"/>
              <a:t>Slower on large datasets.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042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90" y="240030"/>
            <a:ext cx="10976610" cy="59369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3</a:t>
            </a:r>
            <a:r>
              <a:rPr lang="en-IN" b="1" dirty="0" smtClean="0"/>
              <a:t>. DENCLUE (</a:t>
            </a:r>
            <a:r>
              <a:rPr lang="en-IN" b="1" dirty="0" err="1" smtClean="0"/>
              <a:t>DENsity</a:t>
            </a:r>
            <a:r>
              <a:rPr lang="en-IN" b="1" dirty="0" smtClean="0"/>
              <a:t>-based </a:t>
            </a:r>
            <a:r>
              <a:rPr lang="en-IN" b="1" dirty="0" err="1" smtClean="0"/>
              <a:t>CLUstEring</a:t>
            </a:r>
            <a:r>
              <a:rPr lang="en-IN" b="1" dirty="0" smtClean="0"/>
              <a:t>)</a:t>
            </a:r>
          </a:p>
          <a:p>
            <a:pPr marL="0" indent="0">
              <a:buNone/>
            </a:pPr>
            <a:endParaRPr lang="en-IN" b="1" dirty="0" smtClean="0"/>
          </a:p>
          <a:p>
            <a:r>
              <a:rPr lang="en-IN" dirty="0" smtClean="0"/>
              <a:t>Models data density using </a:t>
            </a:r>
            <a:r>
              <a:rPr lang="en-IN" b="1" dirty="0" smtClean="0"/>
              <a:t>influence functions</a:t>
            </a:r>
            <a:r>
              <a:rPr lang="en-IN" dirty="0" smtClean="0"/>
              <a:t> (e.g., Gaussian kernel).</a:t>
            </a:r>
            <a:br>
              <a:rPr lang="en-IN" dirty="0" smtClean="0"/>
            </a:br>
            <a:r>
              <a:rPr lang="en-IN" dirty="0" smtClean="0"/>
              <a:t>Clusters correspond to </a:t>
            </a:r>
            <a:r>
              <a:rPr lang="en-IN" b="1" dirty="0" smtClean="0"/>
              <a:t>density attractors</a:t>
            </a:r>
            <a:r>
              <a:rPr lang="en-IN" dirty="0" smtClean="0"/>
              <a:t> (local maxima in the density function).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Advantages:</a:t>
            </a:r>
          </a:p>
          <a:p>
            <a:r>
              <a:rPr lang="en-IN" dirty="0" smtClean="0"/>
              <a:t>Mathematically elegant (continuous density model).</a:t>
            </a:r>
          </a:p>
          <a:p>
            <a:r>
              <a:rPr lang="en-IN" dirty="0" smtClean="0"/>
              <a:t>Can find </a:t>
            </a:r>
            <a:r>
              <a:rPr lang="en-IN" b="1" dirty="0" smtClean="0"/>
              <a:t>arbitrary-shaped clusters</a:t>
            </a:r>
            <a:r>
              <a:rPr lang="en-IN" dirty="0" smtClean="0"/>
              <a:t>.</a:t>
            </a:r>
          </a:p>
          <a:p>
            <a:r>
              <a:rPr lang="en-IN" dirty="0" smtClean="0"/>
              <a:t>Efficient for large datasets.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Limitations:</a:t>
            </a:r>
          </a:p>
          <a:p>
            <a:r>
              <a:rPr lang="en-IN" dirty="0" smtClean="0"/>
              <a:t>Requires kernel bandwidth parameter tuning.</a:t>
            </a:r>
          </a:p>
          <a:p>
            <a:r>
              <a:rPr lang="en-IN" dirty="0" smtClean="0"/>
              <a:t>Sensitive to parameter settings.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156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1801</Words>
  <Application>Microsoft Office PowerPoint</Application>
  <PresentationFormat>Widescreen</PresentationFormat>
  <Paragraphs>196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Arial Unicode MS</vt:lpstr>
      <vt:lpstr>Calibri</vt:lpstr>
      <vt:lpstr>Calibri Light</vt:lpstr>
      <vt:lpstr>Nunito</vt:lpstr>
      <vt:lpstr>Studio-Feixen-Sans</vt:lpstr>
      <vt:lpstr>Times New Roman</vt:lpstr>
      <vt:lpstr>Wingdings</vt:lpstr>
      <vt:lpstr>Office Theme</vt:lpstr>
      <vt:lpstr>Density-based Clustering</vt:lpstr>
      <vt:lpstr>PowerPoint Presentation</vt:lpstr>
      <vt:lpstr>Major Types of Density-Based Clustering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Density-based clustering</dc:title>
  <dc:creator>acer</dc:creator>
  <cp:lastModifiedBy>acer</cp:lastModifiedBy>
  <cp:revision>30</cp:revision>
  <dcterms:created xsi:type="dcterms:W3CDTF">2025-11-09T18:09:06Z</dcterms:created>
  <dcterms:modified xsi:type="dcterms:W3CDTF">2025-11-29T10:41:26Z</dcterms:modified>
</cp:coreProperties>
</file>